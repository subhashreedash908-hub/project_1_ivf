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5" r:id="rId1"/>
  </p:sldMasterIdLst>
  <p:notesMasterIdLst>
    <p:notesMasterId r:id="rId16"/>
  </p:notesMasterIdLst>
  <p:sldIdLst>
    <p:sldId id="256" r:id="rId2"/>
    <p:sldId id="257" r:id="rId3"/>
    <p:sldId id="258" r:id="rId4"/>
    <p:sldId id="265" r:id="rId5"/>
    <p:sldId id="266" r:id="rId6"/>
    <p:sldId id="267" r:id="rId7"/>
    <p:sldId id="259" r:id="rId8"/>
    <p:sldId id="260" r:id="rId9"/>
    <p:sldId id="261" r:id="rId10"/>
    <p:sldId id="262" r:id="rId11"/>
    <p:sldId id="263" r:id="rId12"/>
    <p:sldId id="268" r:id="rId13"/>
    <p:sldId id="269" r:id="rId14"/>
    <p:sldId id="2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70">
          <p15:clr>
            <a:srgbClr val="9AA0A6"/>
          </p15:clr>
        </p15:guide>
        <p15:guide id="2" pos="5868">
          <p15:clr>
            <a:srgbClr val="9AA0A6"/>
          </p15:clr>
        </p15:guide>
        <p15:guide id="3" orient="horz" pos="157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XQ1N1MafN4fY+Bs9ldogAdiZ6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992" autoAdjust="0"/>
  </p:normalViewPr>
  <p:slideViewPr>
    <p:cSldViewPr snapToGrid="0">
      <p:cViewPr varScale="1">
        <p:scale>
          <a:sx n="82" d="100"/>
          <a:sy n="82" d="100"/>
        </p:scale>
        <p:origin x="30" y="30"/>
      </p:cViewPr>
      <p:guideLst>
        <p:guide orient="horz" pos="1570"/>
        <p:guide pos="5868"/>
        <p:guide orient="horz" pos="157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f3a8d4be09_2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</a:t>
            </a:r>
            <a:endParaRPr/>
          </a:p>
        </p:txBody>
      </p:sp>
      <p:sp>
        <p:nvSpPr>
          <p:cNvPr id="79" name="Google Shape;79;gf3a8d4be09_2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7" name="Google Shape;8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75545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f3a8d4be09_2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gf3a8d4be09_2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4" name="Google Shape;10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EDA is used for </a:t>
            </a:r>
            <a:r>
              <a:rPr lang="en-US" sz="1200" b="1"/>
              <a:t>seeing what the data can tell us before the modeling task</a:t>
            </a:r>
            <a:r>
              <a:rPr lang="en-US" sz="1200"/>
              <a:t>.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/>
              <a:t>Change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0" name="Google Shape;11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Keep observations </a:t>
            </a:r>
            <a:endParaRPr/>
          </a:p>
        </p:txBody>
      </p:sp>
      <p:sp>
        <p:nvSpPr>
          <p:cNvPr id="126" name="Google Shape;126;p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/>
              <a:t>Add graphical </a:t>
            </a:r>
            <a:endParaRPr/>
          </a:p>
        </p:txBody>
      </p:sp>
      <p:sp>
        <p:nvSpPr>
          <p:cNvPr id="134" name="Google Shape;134;p3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2" name="Google Shape;142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81621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600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1103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19722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3287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40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80979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26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019526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28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399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 1">
  <p:cSld name="Title and Content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f3a8d4be09_2_86"/>
          <p:cNvSpPr txBox="1">
            <a:spLocks noGrp="1"/>
          </p:cNvSpPr>
          <p:nvPr>
            <p:ph type="title"/>
          </p:nvPr>
        </p:nvSpPr>
        <p:spPr>
          <a:xfrm>
            <a:off x="228600" y="187044"/>
            <a:ext cx="10515600" cy="517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f3a8d4be09_2_86"/>
          <p:cNvSpPr txBox="1">
            <a:spLocks noGrp="1"/>
          </p:cNvSpPr>
          <p:nvPr>
            <p:ph type="sldNum" idx="12"/>
          </p:nvPr>
        </p:nvSpPr>
        <p:spPr>
          <a:xfrm>
            <a:off x="11639549" y="6350003"/>
            <a:ext cx="3906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676329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1"/>
          <p:cNvSpPr txBox="1">
            <a:spLocks noGrp="1"/>
          </p:cNvSpPr>
          <p:nvPr>
            <p:ph type="title"/>
          </p:nvPr>
        </p:nvSpPr>
        <p:spPr>
          <a:xfrm>
            <a:off x="228600" y="184714"/>
            <a:ext cx="10515600" cy="521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  <a:defRPr sz="31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1"/>
          <p:cNvSpPr txBox="1">
            <a:spLocks noGrp="1"/>
          </p:cNvSpPr>
          <p:nvPr>
            <p:ph type="sldNum" idx="12"/>
          </p:nvPr>
        </p:nvSpPr>
        <p:spPr>
          <a:xfrm>
            <a:off x="11639552" y="6350000"/>
            <a:ext cx="390525" cy="28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404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6155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junpuriinqatar.blogspot.com/2017/03/ivfs-potentially-fatal-side-effects.html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cnbplegacy.org.au/the-ivf-garage/" TargetMode="Externa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3" Type="http://schemas.openxmlformats.org/officeDocument/2006/relationships/image" Target="../media/image2.jpg"/><Relationship Id="rId7" Type="http://schemas.openxmlformats.org/officeDocument/2006/relationships/image" Target="../media/image1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jpeg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>
            <a:spLocks noGrp="1"/>
          </p:cNvSpPr>
          <p:nvPr>
            <p:ph type="title"/>
          </p:nvPr>
        </p:nvSpPr>
        <p:spPr>
          <a:xfrm>
            <a:off x="1339567" y="337804"/>
            <a:ext cx="9790487" cy="136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rmAutofit/>
          </a:bodyPr>
          <a:lstStyle/>
          <a:p>
            <a:pPr lvl="0"/>
            <a:r>
              <a:rPr lang="en-US" dirty="0"/>
              <a:t>Garbha Analytics: </a:t>
            </a:r>
            <a:br>
              <a:rPr lang="en-US" dirty="0"/>
            </a:br>
            <a:r>
              <a:rPr lang="en-US" dirty="0"/>
              <a:t>Data-Driven IVF Outcome Monitoring</a:t>
            </a:r>
            <a:endParaRPr dirty="0"/>
          </a:p>
        </p:txBody>
      </p:sp>
      <p:sp>
        <p:nvSpPr>
          <p:cNvPr id="3" name="AutoShape 4" descr="Garbha">
            <a:extLst>
              <a:ext uri="{FF2B5EF4-FFF2-40B4-BE49-F238E27FC236}">
                <a16:creationId xmlns:a16="http://schemas.microsoft.com/office/drawing/2014/main" id="{925A9DF3-09AC-7F5D-6A49-7824A6651376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4" name="Google Shape;74;p1"/>
          <p:cNvSpPr txBox="1"/>
          <p:nvPr/>
        </p:nvSpPr>
        <p:spPr>
          <a:xfrm>
            <a:off x="242944" y="860611"/>
            <a:ext cx="3537600" cy="4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60925" rIns="121875" bIns="609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086508" y="11637873"/>
            <a:ext cx="158226" cy="163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603FBF-F489-6CEC-BAE2-5C475C16948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38200" y="1848497"/>
            <a:ext cx="10385041" cy="42325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71AF7C-071D-8494-7B41-3A8428693D83}"/>
              </a:ext>
            </a:extLst>
          </p:cNvPr>
          <p:cNvSpPr txBox="1"/>
          <p:nvPr/>
        </p:nvSpPr>
        <p:spPr>
          <a:xfrm>
            <a:off x="505023" y="6103940"/>
            <a:ext cx="103850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3a8d4be09_2_180"/>
          <p:cNvSpPr txBox="1">
            <a:spLocks noGrp="1"/>
          </p:cNvSpPr>
          <p:nvPr>
            <p:ph type="title"/>
          </p:nvPr>
        </p:nvSpPr>
        <p:spPr>
          <a:xfrm>
            <a:off x="163275" y="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Contents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gf3a8d4be09_2_18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83" name="Google Shape;83;gf3a8d4be09_2_180"/>
          <p:cNvSpPr txBox="1"/>
          <p:nvPr/>
        </p:nvSpPr>
        <p:spPr>
          <a:xfrm>
            <a:off x="383125" y="1149375"/>
            <a:ext cx="11034000" cy="28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Objective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Constraints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Architecture - Data F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Diagram</a:t>
            </a:r>
            <a:endParaRPr/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Collection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Exploratory Data Analysis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31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●"/>
            </a:pPr>
            <a:r>
              <a:rPr lang="en-US"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Visualization</a:t>
            </a:r>
            <a:endParaRPr sz="3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4" name="Google Shape;84;gf3a8d4be09_2_18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22F52B-C220-77F9-D829-816C0673B4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83125" y="3955923"/>
            <a:ext cx="9135722" cy="24448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306693" y="177814"/>
            <a:ext cx="11671379" cy="535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Business</a:t>
            </a:r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Problem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6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879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62EFDB-CB41-B8F7-B80A-0FC0A07FDAC1}"/>
              </a:ext>
            </a:extLst>
          </p:cNvPr>
          <p:cNvSpPr txBox="1"/>
          <p:nvPr/>
        </p:nvSpPr>
        <p:spPr>
          <a:xfrm>
            <a:off x="354106" y="1416424"/>
            <a:ext cx="11205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1"/>
                </a:solidFill>
              </a:rPr>
              <a:t>Inconsistent embryo grading and delayed outcome insights IVF success rates while increasing treatment costs  and decision delays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24834B6-4BE8-2646-3E2A-6296CB613C82}"/>
              </a:ext>
            </a:extLst>
          </p:cNvPr>
          <p:cNvSpPr/>
          <p:nvPr/>
        </p:nvSpPr>
        <p:spPr>
          <a:xfrm>
            <a:off x="67307" y="2391072"/>
            <a:ext cx="3390663" cy="3714395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70C0"/>
            </a:solidFill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📉</a:t>
            </a:r>
            <a:r>
              <a:rPr lang="en-IN" b="1" u="sng" dirty="0"/>
              <a:t>Low Success Rates: </a:t>
            </a:r>
          </a:p>
          <a:p>
            <a:pPr algn="ctr"/>
            <a:r>
              <a:rPr lang="en-IN" dirty="0"/>
              <a:t>Low </a:t>
            </a:r>
            <a:r>
              <a:rPr lang="en-IN" b="1" dirty="0"/>
              <a:t>30-35% </a:t>
            </a:r>
            <a:r>
              <a:rPr lang="en-IN" dirty="0"/>
              <a:t>success rates with </a:t>
            </a:r>
            <a:r>
              <a:rPr lang="en-IN" b="1" dirty="0"/>
              <a:t>25-40% </a:t>
            </a:r>
            <a:r>
              <a:rPr lang="en-IN" dirty="0"/>
              <a:t>variability in embryo grading causing </a:t>
            </a:r>
            <a:r>
              <a:rPr lang="en-IN" b="1" dirty="0"/>
              <a:t>15-20 % </a:t>
            </a:r>
            <a:r>
              <a:rPr lang="en-IN" dirty="0"/>
              <a:t>loss in potential outcomes.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EF72D2A-DBA0-D33F-4009-404324703BD0}"/>
              </a:ext>
            </a:extLst>
          </p:cNvPr>
          <p:cNvSpPr/>
          <p:nvPr/>
        </p:nvSpPr>
        <p:spPr>
          <a:xfrm rot="10800000" flipV="1">
            <a:off x="3825261" y="2288842"/>
            <a:ext cx="3620568" cy="3918856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endParaRPr lang="en-IN" dirty="0"/>
          </a:p>
          <a:p>
            <a:pPr algn="ctr"/>
            <a:r>
              <a:rPr lang="en-IN" dirty="0"/>
              <a:t>🔄</a:t>
            </a:r>
            <a:r>
              <a:rPr lang="en-IN" b="1" u="sng" dirty="0"/>
              <a:t>High Variability:</a:t>
            </a:r>
          </a:p>
          <a:p>
            <a:pPr algn="ctr"/>
            <a:r>
              <a:rPr lang="en-US" b="1" dirty="0"/>
              <a:t>High inter-observer variability (25–40%)</a:t>
            </a:r>
            <a:r>
              <a:rPr lang="en-US" dirty="0"/>
              <a:t> in embryo grading leads to inconsistent outcomes across labs.</a:t>
            </a:r>
            <a:endParaRPr lang="en-IN" b="1" u="sng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C6A86F7-2320-C83C-D264-87CE77185096}"/>
              </a:ext>
            </a:extLst>
          </p:cNvPr>
          <p:cNvSpPr/>
          <p:nvPr/>
        </p:nvSpPr>
        <p:spPr>
          <a:xfrm>
            <a:off x="7698680" y="2288842"/>
            <a:ext cx="3461544" cy="386206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endParaRPr lang="en-IN" b="1" dirty="0"/>
          </a:p>
          <a:p>
            <a:pPr algn="ctr"/>
            <a:r>
              <a:rPr lang="en-IN" b="1" dirty="0"/>
              <a:t>💰</a:t>
            </a:r>
            <a:r>
              <a:rPr lang="en-IN" b="1" u="sng" dirty="0"/>
              <a:t> 10-15% Increase in operational Cost:</a:t>
            </a:r>
          </a:p>
          <a:p>
            <a:pPr algn="ctr"/>
            <a:r>
              <a:rPr lang="en-IN" dirty="0"/>
              <a:t>Inefficiencies in current processes contribute to higher costs per cycle, affecting clinic profitability. </a:t>
            </a:r>
          </a:p>
        </p:txBody>
      </p:sp>
      <p:pic>
        <p:nvPicPr>
          <p:cNvPr id="5122" name="Picture 2" descr="Success Rate Stock Illustrations – 79,153 Success Rate Stock Illustrations,  Vectors &amp; Clipart - Dreamstime">
            <a:extLst>
              <a:ext uri="{FF2B5EF4-FFF2-40B4-BE49-F238E27FC236}">
                <a16:creationId xmlns:a16="http://schemas.microsoft.com/office/drawing/2014/main" id="{339CF2FE-CC55-276E-7661-69CFA59EC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820" y="2685548"/>
            <a:ext cx="1802187" cy="1063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Embryo development Images - Free Download on Freepik">
            <a:extLst>
              <a:ext uri="{FF2B5EF4-FFF2-40B4-BE49-F238E27FC236}">
                <a16:creationId xmlns:a16="http://schemas.microsoft.com/office/drawing/2014/main" id="{C72DC8CC-D872-1F25-3B12-5D58C41CC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 flipV="1">
            <a:off x="4382955" y="2863889"/>
            <a:ext cx="2597151" cy="1130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How to Reduce Operational Costs">
            <a:extLst>
              <a:ext uri="{FF2B5EF4-FFF2-40B4-BE49-F238E27FC236}">
                <a16:creationId xmlns:a16="http://schemas.microsoft.com/office/drawing/2014/main" id="{7FAC817A-5737-1CC0-F663-6246CBFD4F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2354" y="2597036"/>
            <a:ext cx="1637060" cy="1151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0AF2C-D5D0-54A8-A08B-98A3AB6FC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84761"/>
            <a:ext cx="10515600" cy="521590"/>
          </a:xfrm>
        </p:spPr>
        <p:txBody>
          <a:bodyPr/>
          <a:lstStyle/>
          <a:p>
            <a:r>
              <a:rPr lang="en-IN" dirty="0"/>
              <a:t>Business Problems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FA3017-069F-27FC-5078-6AD8D0816FF7}"/>
              </a:ext>
            </a:extLst>
          </p:cNvPr>
          <p:cNvSpPr txBox="1"/>
          <p:nvPr/>
        </p:nvSpPr>
        <p:spPr>
          <a:xfrm>
            <a:off x="340659" y="1195294"/>
            <a:ext cx="11761694" cy="5871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Executive Pain Points: </a:t>
            </a:r>
          </a:p>
          <a:p>
            <a:endParaRPr lang="en-IN" sz="2000" b="1" u="sng" dirty="0"/>
          </a:p>
          <a:p>
            <a:r>
              <a:rPr lang="en-IN" sz="1800" b="1" spc="-30" dirty="0">
                <a:solidFill>
                  <a:srgbClr val="000000">
                    <a:alpha val="100000"/>
                  </a:srgbClr>
                </a:solidFill>
              </a:rPr>
              <a:t>                       Success</a:t>
            </a:r>
            <a:r>
              <a:rPr lang="en-IN" sz="1800" b="1" spc="9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IN" sz="1800" b="1" spc="-30" dirty="0">
                <a:solidFill>
                  <a:srgbClr val="000000">
                    <a:alpha val="100000"/>
                  </a:srgbClr>
                </a:solidFill>
              </a:rPr>
              <a:t>rates</a:t>
            </a:r>
            <a:r>
              <a:rPr lang="en-IN" sz="1800" b="1" spc="10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IN" sz="1800" b="1" spc="-30" dirty="0">
                <a:solidFill>
                  <a:srgbClr val="000000">
                    <a:alpha val="100000"/>
                  </a:srgbClr>
                </a:solidFill>
              </a:rPr>
              <a:t>remain</a:t>
            </a:r>
            <a:r>
              <a:rPr lang="en-IN" sz="1800" b="1" spc="3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IN" sz="1800" b="1" spc="-30" dirty="0">
                <a:solidFill>
                  <a:srgbClr val="000000">
                    <a:alpha val="100000"/>
                  </a:srgbClr>
                </a:solidFill>
              </a:rPr>
              <a:t>stagnant</a:t>
            </a:r>
            <a:r>
              <a:rPr lang="en-IN" sz="1800" b="1" spc="5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IN" sz="1800" b="1" spc="-40" dirty="0">
                <a:solidFill>
                  <a:srgbClr val="000000">
                    <a:alpha val="100000"/>
                  </a:srgbClr>
                </a:solidFill>
              </a:rPr>
              <a:t>at</a:t>
            </a:r>
            <a:r>
              <a:rPr lang="en-IN" sz="1800" b="1" spc="5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IN" sz="1800" b="1" spc="-40" dirty="0">
                <a:solidFill>
                  <a:srgbClr val="000000">
                    <a:alpha val="100000"/>
                  </a:srgbClr>
                </a:solidFill>
              </a:rPr>
              <a:t>30-35%: </a:t>
            </a:r>
          </a:p>
          <a:p>
            <a:endParaRPr lang="en-US" sz="1800" dirty="0"/>
          </a:p>
          <a:p>
            <a:r>
              <a:rPr lang="en-US" sz="1800" dirty="0"/>
              <a:t>IVF success rates remain low (30–35%) despite increasing patient demand.</a:t>
            </a:r>
          </a:p>
          <a:p>
            <a:endParaRPr lang="en-IN" sz="1800" b="1" spc="-40" dirty="0">
              <a:solidFill>
                <a:srgbClr val="000000">
                  <a:alpha val="100000"/>
                </a:srgbClr>
              </a:solidFill>
            </a:endParaRPr>
          </a:p>
          <a:p>
            <a:pPr marL="12700" eaLnBrk="0">
              <a:lnSpc>
                <a:spcPts val="2299"/>
              </a:lnSpc>
              <a:spcBef>
                <a:spcPts val="1459"/>
              </a:spcBef>
            </a:pPr>
            <a:r>
              <a:rPr lang="en-IN" sz="1800" dirty="0"/>
              <a:t>                        </a:t>
            </a:r>
            <a:r>
              <a:rPr lang="en-US" sz="1900" b="1" spc="-70" dirty="0">
                <a:solidFill>
                  <a:srgbClr val="000000">
                    <a:alpha val="100000"/>
                  </a:srgbClr>
                </a:solidFill>
              </a:rPr>
              <a:t>25-40%inter-observer</a:t>
            </a:r>
            <a:r>
              <a:rPr lang="en-US" sz="1900" dirty="0"/>
              <a:t> </a:t>
            </a:r>
            <a:r>
              <a:rPr lang="en-US" sz="1800" b="1" spc="-40" dirty="0">
                <a:solidFill>
                  <a:srgbClr val="000000">
                    <a:alpha val="100000"/>
                  </a:srgbClr>
                </a:solidFill>
              </a:rPr>
              <a:t>variability</a:t>
            </a:r>
            <a:r>
              <a:rPr lang="en-US" sz="1800" b="1" spc="9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b="1" spc="-40" dirty="0">
                <a:solidFill>
                  <a:srgbClr val="000000">
                    <a:alpha val="100000"/>
                  </a:srgbClr>
                </a:solidFill>
              </a:rPr>
              <a:t>in embryo gradin</a:t>
            </a:r>
            <a:r>
              <a:rPr lang="en-US" sz="1800" b="1" spc="-50" dirty="0">
                <a:solidFill>
                  <a:srgbClr val="000000">
                    <a:alpha val="100000"/>
                  </a:srgbClr>
                </a:solidFill>
              </a:rPr>
              <a:t>g: </a:t>
            </a:r>
            <a:endParaRPr lang="en-US" sz="1800" dirty="0"/>
          </a:p>
          <a:p>
            <a:endParaRPr lang="en-IN" sz="1800" dirty="0"/>
          </a:p>
          <a:p>
            <a:r>
              <a:rPr lang="en-US" sz="1800" dirty="0"/>
              <a:t>High inter-observer variability (25–40%) in embryo grading leads to inconsistent outcomes across labs.</a:t>
            </a:r>
          </a:p>
          <a:p>
            <a:endParaRPr lang="en-US" sz="1800" dirty="0"/>
          </a:p>
          <a:p>
            <a:endParaRPr lang="en-US" sz="1800" dirty="0"/>
          </a:p>
          <a:p>
            <a:pPr marL="12700" eaLnBrk="0">
              <a:lnSpc>
                <a:spcPct val="83000"/>
              </a:lnSpc>
            </a:pPr>
            <a:r>
              <a:rPr lang="en-US" sz="1800" b="1" spc="-70" dirty="0">
                <a:solidFill>
                  <a:srgbClr val="000000">
                    <a:alpha val="100000"/>
                  </a:srgbClr>
                </a:solidFill>
              </a:rPr>
              <a:t>                              3-4</a:t>
            </a:r>
            <a:r>
              <a:rPr lang="en-US" sz="1800" b="1" spc="10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b="1" spc="-70" dirty="0">
                <a:solidFill>
                  <a:srgbClr val="000000">
                    <a:alpha val="100000"/>
                  </a:srgbClr>
                </a:solidFill>
              </a:rPr>
              <a:t>month wait for defin</a:t>
            </a:r>
            <a:r>
              <a:rPr lang="en-US" sz="1800" b="1" spc="-80" dirty="0">
                <a:solidFill>
                  <a:srgbClr val="000000">
                    <a:alpha val="100000"/>
                  </a:srgbClr>
                </a:solidFill>
              </a:rPr>
              <a:t>itive</a:t>
            </a:r>
            <a:r>
              <a:rPr lang="en-US" sz="1800" dirty="0"/>
              <a:t> </a:t>
            </a:r>
            <a:r>
              <a:rPr lang="en-US" sz="1800" b="1" spc="-80" dirty="0">
                <a:solidFill>
                  <a:srgbClr val="000000">
                    <a:alpha val="100000"/>
                  </a:srgbClr>
                </a:solidFill>
              </a:rPr>
              <a:t>outcome clar</a:t>
            </a:r>
            <a:r>
              <a:rPr lang="en-US" sz="1800" b="1" spc="-90" dirty="0">
                <a:solidFill>
                  <a:srgbClr val="000000">
                    <a:alpha val="100000"/>
                  </a:srgbClr>
                </a:solidFill>
              </a:rPr>
              <a:t>ity: </a:t>
            </a:r>
          </a:p>
          <a:p>
            <a:pPr marL="12700" eaLnBrk="0">
              <a:lnSpc>
                <a:spcPct val="83000"/>
              </a:lnSpc>
            </a:pPr>
            <a:r>
              <a:rPr lang="en-US" sz="1800" spc="20" dirty="0">
                <a:solidFill>
                  <a:srgbClr val="000000">
                    <a:alpha val="100000"/>
                  </a:srgbClr>
                </a:solidFill>
              </a:rPr>
              <a:t>Delayed</a:t>
            </a:r>
            <a:r>
              <a:rPr lang="en-US" sz="1800" spc="17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20" dirty="0">
                <a:solidFill>
                  <a:srgbClr val="000000">
                    <a:alpha val="100000"/>
                  </a:srgbClr>
                </a:solidFill>
              </a:rPr>
              <a:t>feedba</a:t>
            </a:r>
            <a:r>
              <a:rPr lang="en-US" sz="1800" spc="10" dirty="0">
                <a:solidFill>
                  <a:srgbClr val="000000">
                    <a:alpha val="100000"/>
                  </a:srgbClr>
                </a:solidFill>
              </a:rPr>
              <a:t>ck</a:t>
            </a:r>
            <a:r>
              <a:rPr lang="en-US" sz="1800" spc="21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10" dirty="0">
                <a:solidFill>
                  <a:srgbClr val="000000">
                    <a:alpha val="100000"/>
                  </a:srgbClr>
                </a:solidFill>
              </a:rPr>
              <a:t>creates</a:t>
            </a:r>
            <a:r>
              <a:rPr lang="en-US" sz="1800" spc="25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10" dirty="0">
                <a:solidFill>
                  <a:srgbClr val="000000">
                    <a:alpha val="100000"/>
                  </a:srgbClr>
                </a:solidFill>
              </a:rPr>
              <a:t>uncertainty</a:t>
            </a:r>
            <a:r>
              <a:rPr lang="en-US" sz="180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20" dirty="0">
                <a:solidFill>
                  <a:srgbClr val="000000">
                    <a:alpha val="100000"/>
                  </a:srgbClr>
                </a:solidFill>
              </a:rPr>
              <a:t>for  patients  and</a:t>
            </a:r>
            <a:r>
              <a:rPr lang="en-US" sz="1800" spc="40" dirty="0">
                <a:solidFill>
                  <a:srgbClr val="000000">
                    <a:alpha val="100000"/>
                  </a:srgbClr>
                </a:solidFill>
              </a:rPr>
              <a:t>  </a:t>
            </a:r>
            <a:r>
              <a:rPr lang="en-US" sz="1800" spc="20" dirty="0">
                <a:solidFill>
                  <a:srgbClr val="000000">
                    <a:alpha val="100000"/>
                  </a:srgbClr>
                </a:solidFill>
              </a:rPr>
              <a:t>clinicians, h</a:t>
            </a:r>
            <a:r>
              <a:rPr lang="en-US" sz="1800" spc="10" dirty="0">
                <a:solidFill>
                  <a:srgbClr val="000000">
                    <a:alpha val="100000"/>
                  </a:srgbClr>
                </a:solidFill>
              </a:rPr>
              <a:t>indering</a:t>
            </a:r>
            <a:r>
              <a:rPr lang="en-US" sz="1800" dirty="0">
                <a:solidFill>
                  <a:srgbClr val="000000">
                    <a:alpha val="100000"/>
                  </a:srgbClr>
                </a:solidFill>
              </a:rPr>
              <a:t>   </a:t>
            </a:r>
            <a:r>
              <a:rPr lang="en-US" sz="1800" spc="20" dirty="0">
                <a:solidFill>
                  <a:srgbClr val="000000">
                    <a:alpha val="100000"/>
                  </a:srgbClr>
                </a:solidFill>
              </a:rPr>
              <a:t>timely</a:t>
            </a:r>
            <a:r>
              <a:rPr lang="en-US" sz="1800" spc="170" dirty="0">
                <a:solidFill>
                  <a:srgbClr val="000000">
                    <a:alpha val="100000"/>
                  </a:srgbClr>
                </a:solidFill>
              </a:rPr>
              <a:t>  </a:t>
            </a:r>
            <a:r>
              <a:rPr lang="en-US" sz="1800" spc="20" dirty="0">
                <a:solidFill>
                  <a:srgbClr val="000000">
                    <a:alpha val="100000"/>
                  </a:srgbClr>
                </a:solidFill>
              </a:rPr>
              <a:t>decision-m</a:t>
            </a:r>
            <a:r>
              <a:rPr lang="en-US" sz="1800" spc="10" dirty="0">
                <a:solidFill>
                  <a:srgbClr val="000000">
                    <a:alpha val="100000"/>
                  </a:srgbClr>
                </a:solidFill>
              </a:rPr>
              <a:t>aking</a:t>
            </a:r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b="1" spc="-70" dirty="0">
                <a:solidFill>
                  <a:srgbClr val="000000">
                    <a:alpha val="100000"/>
                  </a:srgbClr>
                </a:solidFill>
              </a:rPr>
              <a:t>                           10-15%incre</a:t>
            </a:r>
            <a:r>
              <a:rPr lang="en-US" sz="1800" b="1" spc="-80" dirty="0">
                <a:solidFill>
                  <a:srgbClr val="000000">
                    <a:alpha val="100000"/>
                  </a:srgbClr>
                </a:solidFill>
              </a:rPr>
              <a:t>ase</a:t>
            </a:r>
            <a:r>
              <a:rPr lang="en-US" sz="1800" b="1" spc="10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b="1" spc="-80" dirty="0">
                <a:solidFill>
                  <a:srgbClr val="000000">
                    <a:alpha val="100000"/>
                  </a:srgbClr>
                </a:solidFill>
              </a:rPr>
              <a:t>in operational costs: </a:t>
            </a:r>
          </a:p>
          <a:p>
            <a:endParaRPr lang="en-US" sz="1800" dirty="0"/>
          </a:p>
          <a:p>
            <a:r>
              <a:rPr lang="en-US" sz="1800" dirty="0"/>
              <a:t>Inefficiencies in current processes contribute to higher costs per cycle , affecting clinic profitability.</a:t>
            </a:r>
          </a:p>
          <a:p>
            <a:endParaRPr lang="en-IN" sz="2000" b="1" u="sng" dirty="0"/>
          </a:p>
          <a:p>
            <a:endParaRPr lang="en-IN" sz="2000" b="1" u="sng" dirty="0"/>
          </a:p>
        </p:txBody>
      </p:sp>
      <p:pic>
        <p:nvPicPr>
          <p:cNvPr id="9" name="picture 48">
            <a:extLst>
              <a:ext uri="{FF2B5EF4-FFF2-40B4-BE49-F238E27FC236}">
                <a16:creationId xmlns:a16="http://schemas.microsoft.com/office/drawing/2014/main" id="{CEF5C7D8-814B-D4CF-C85E-025B7A3F3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93791" y="1589946"/>
            <a:ext cx="1168359" cy="757506"/>
          </a:xfrm>
          <a:prstGeom prst="rect">
            <a:avLst/>
          </a:prstGeom>
        </p:spPr>
      </p:pic>
      <p:pic>
        <p:nvPicPr>
          <p:cNvPr id="10" name="picture 40">
            <a:extLst>
              <a:ext uri="{FF2B5EF4-FFF2-40B4-BE49-F238E27FC236}">
                <a16:creationId xmlns:a16="http://schemas.microsoft.com/office/drawing/2014/main" id="{3C00D397-86FF-1552-8018-04397AB1E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07933" y="2970676"/>
            <a:ext cx="1574718" cy="749305"/>
          </a:xfrm>
          <a:prstGeom prst="rect">
            <a:avLst/>
          </a:prstGeom>
        </p:spPr>
      </p:pic>
      <p:pic>
        <p:nvPicPr>
          <p:cNvPr id="11" name="picture 44">
            <a:extLst>
              <a:ext uri="{FF2B5EF4-FFF2-40B4-BE49-F238E27FC236}">
                <a16:creationId xmlns:a16="http://schemas.microsoft.com/office/drawing/2014/main" id="{D7C87AFD-A97D-BCD5-B6F4-5AA83F45E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93793" y="4039481"/>
            <a:ext cx="1402996" cy="730239"/>
          </a:xfrm>
          <a:prstGeom prst="rect">
            <a:avLst/>
          </a:prstGeom>
        </p:spPr>
      </p:pic>
      <p:pic>
        <p:nvPicPr>
          <p:cNvPr id="12" name="picture 52">
            <a:extLst>
              <a:ext uri="{FF2B5EF4-FFF2-40B4-BE49-F238E27FC236}">
                <a16:creationId xmlns:a16="http://schemas.microsoft.com/office/drawing/2014/main" id="{22371EA1-4197-639C-5AEA-132BE73476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93790" y="5089218"/>
            <a:ext cx="1168358" cy="863347"/>
          </a:xfrm>
          <a:prstGeom prst="rect">
            <a:avLst/>
          </a:prstGeom>
        </p:spPr>
      </p:pic>
      <p:pic>
        <p:nvPicPr>
          <p:cNvPr id="14" name="picture 42">
            <a:extLst>
              <a:ext uri="{FF2B5EF4-FFF2-40B4-BE49-F238E27FC236}">
                <a16:creationId xmlns:a16="http://schemas.microsoft.com/office/drawing/2014/main" id="{E7ABCB9A-1446-11D7-4AC4-0D6B3C0BF7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346804" y="978275"/>
            <a:ext cx="1422441" cy="825497"/>
          </a:xfrm>
          <a:prstGeom prst="rect">
            <a:avLst/>
          </a:prstGeom>
        </p:spPr>
      </p:pic>
      <p:pic>
        <p:nvPicPr>
          <p:cNvPr id="4" name="Google Shape;90;p6" descr="360DigiTMG Reviews - 52 Reviews of 360digitmg.com | Sitejabber">
            <a:extLst>
              <a:ext uri="{FF2B5EF4-FFF2-40B4-BE49-F238E27FC236}">
                <a16:creationId xmlns:a16="http://schemas.microsoft.com/office/drawing/2014/main" id="{2AF2BB39-3522-F2E2-0A5C-1A0360CF5A5A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73037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BA14D-C99C-8D05-3353-C0751C85D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Objective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EBC859-4E27-E9EF-DDD2-28EA6D20275B}"/>
              </a:ext>
            </a:extLst>
          </p:cNvPr>
          <p:cNvSpPr txBox="1"/>
          <p:nvPr/>
        </p:nvSpPr>
        <p:spPr>
          <a:xfrm>
            <a:off x="537881" y="1137559"/>
            <a:ext cx="9657977" cy="5359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u="sng" dirty="0"/>
              <a:t>Clinician &amp; Embryologist Challenges: </a:t>
            </a:r>
          </a:p>
          <a:p>
            <a:r>
              <a:rPr lang="en-US" sz="2400" b="1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  </a:t>
            </a:r>
            <a:endParaRPr lang="en-US" sz="2400" dirty="0">
              <a:latin typeface="Times New Roman"/>
              <a:cs typeface="Times New Roman"/>
            </a:endParaRPr>
          </a:p>
          <a:p>
            <a:pPr marL="298450" indent="-285750" eaLnBrk="0">
              <a:lnSpc>
                <a:spcPct val="110000"/>
              </a:lnSpc>
              <a:spcBef>
                <a:spcPts val="445"/>
              </a:spcBef>
              <a:buFont typeface="Arial" panose="020B0604020202020204" pitchFamily="34" charset="0"/>
              <a:buChar char="•"/>
            </a:pPr>
            <a:r>
              <a:rPr lang="en-US" sz="1800" b="1" spc="-20" dirty="0">
                <a:solidFill>
                  <a:srgbClr val="000000">
                    <a:alpha val="100000"/>
                  </a:srgbClr>
                </a:solidFill>
              </a:rPr>
              <a:t>25-40% </a:t>
            </a:r>
            <a:r>
              <a:rPr lang="en-US" sz="1800" spc="-20" dirty="0">
                <a:solidFill>
                  <a:srgbClr val="000000">
                    <a:alpha val="100000"/>
                  </a:srgbClr>
                </a:solidFill>
              </a:rPr>
              <a:t>inconsistency in embryo grading among embr</a:t>
            </a:r>
            <a:r>
              <a:rPr lang="en-US" sz="1800" spc="-30" dirty="0">
                <a:solidFill>
                  <a:srgbClr val="000000">
                    <a:alpha val="100000"/>
                  </a:srgbClr>
                </a:solidFill>
              </a:rPr>
              <a:t>yologists</a:t>
            </a:r>
            <a:r>
              <a:rPr lang="en-US" sz="1800" spc="-1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-30" dirty="0">
                <a:solidFill>
                  <a:srgbClr val="000000">
                    <a:alpha val="100000"/>
                  </a:srgbClr>
                </a:solidFill>
              </a:rPr>
              <a:t>leads to</a:t>
            </a:r>
            <a:r>
              <a:rPr lang="en-US" sz="1800" spc="18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-30" dirty="0">
                <a:solidFill>
                  <a:srgbClr val="000000">
                    <a:alpha val="100000"/>
                  </a:srgbClr>
                </a:solidFill>
              </a:rPr>
              <a:t>1</a:t>
            </a:r>
            <a:r>
              <a:rPr lang="en-US" sz="1800" b="1" spc="-30" dirty="0">
                <a:solidFill>
                  <a:srgbClr val="000000">
                    <a:alpha val="100000"/>
                  </a:srgbClr>
                </a:solidFill>
              </a:rPr>
              <a:t>5-20% </a:t>
            </a:r>
          </a:p>
          <a:p>
            <a:pPr marL="12700" eaLnBrk="0">
              <a:lnSpc>
                <a:spcPct val="110000"/>
              </a:lnSpc>
              <a:spcBef>
                <a:spcPts val="445"/>
              </a:spcBef>
            </a:pPr>
            <a:r>
              <a:rPr lang="en-US" sz="1800" spc="-30" dirty="0">
                <a:solidFill>
                  <a:srgbClr val="000000">
                    <a:alpha val="100000"/>
                  </a:srgbClr>
                </a:solidFill>
              </a:rPr>
              <a:t>loss</a:t>
            </a:r>
            <a:r>
              <a:rPr lang="en-US" sz="1800" spc="9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-30" dirty="0">
                <a:solidFill>
                  <a:srgbClr val="000000">
                    <a:alpha val="100000"/>
                  </a:srgbClr>
                </a:solidFill>
              </a:rPr>
              <a:t>in</a:t>
            </a:r>
            <a:r>
              <a:rPr lang="en-US" sz="1800" spc="9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-30" dirty="0">
                <a:solidFill>
                  <a:srgbClr val="000000">
                    <a:alpha val="100000"/>
                  </a:srgbClr>
                </a:solidFill>
              </a:rPr>
              <a:t>implantation</a:t>
            </a:r>
            <a:r>
              <a:rPr lang="en-US" sz="1800" spc="9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spc="-30" dirty="0">
                <a:solidFill>
                  <a:srgbClr val="000000">
                    <a:alpha val="100000"/>
                  </a:srgbClr>
                </a:solidFill>
              </a:rPr>
              <a:t>potential.</a:t>
            </a: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Limited ability to compare historical embryo outcomes with current cases.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No consolidated view of </a:t>
            </a:r>
            <a:r>
              <a:rPr lang="en-US" sz="1800" b="1" dirty="0"/>
              <a:t>key success indicators </a:t>
            </a:r>
            <a:r>
              <a:rPr lang="en-US" sz="1800" dirty="0"/>
              <a:t>(embryo grade, day of </a:t>
            </a:r>
          </a:p>
          <a:p>
            <a:r>
              <a:rPr lang="en-US" sz="1800" dirty="0"/>
              <a:t>    transfer, implantation outcome).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Difficulty identifying </a:t>
            </a:r>
            <a:r>
              <a:rPr lang="en-US" sz="1800" b="1" dirty="0"/>
              <a:t>which embryo characteristics truly influence </a:t>
            </a:r>
          </a:p>
          <a:p>
            <a:r>
              <a:rPr lang="en-US" sz="1800" b="1" dirty="0"/>
              <a:t>     implantation success</a:t>
            </a:r>
            <a:r>
              <a:rPr lang="en-US" sz="18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Delayed feedback loop prevents </a:t>
            </a:r>
            <a:r>
              <a:rPr lang="en-US" sz="1800" b="1" dirty="0"/>
              <a:t>learning from past cycles </a:t>
            </a:r>
            <a:r>
              <a:rPr lang="en-US" sz="1800" dirty="0"/>
              <a:t>and improving </a:t>
            </a:r>
          </a:p>
          <a:p>
            <a:r>
              <a:rPr lang="en-US" sz="1800" dirty="0"/>
              <a:t>    clinical protocols.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Manual analysis increases </a:t>
            </a:r>
            <a:r>
              <a:rPr lang="en-US" sz="1800" b="1" dirty="0"/>
              <a:t>cognitive load and time spent </a:t>
            </a:r>
            <a:r>
              <a:rPr lang="en-US" sz="1800" dirty="0"/>
              <a:t>on </a:t>
            </a:r>
          </a:p>
          <a:p>
            <a:r>
              <a:rPr lang="en-US" sz="1800" dirty="0"/>
              <a:t>    decision-making.</a:t>
            </a:r>
            <a:endParaRPr lang="en-IN" sz="1800" dirty="0"/>
          </a:p>
        </p:txBody>
      </p:sp>
      <p:pic>
        <p:nvPicPr>
          <p:cNvPr id="7" name="picture 66">
            <a:extLst>
              <a:ext uri="{FF2B5EF4-FFF2-40B4-BE49-F238E27FC236}">
                <a16:creationId xmlns:a16="http://schemas.microsoft.com/office/drawing/2014/main" id="{48A0BC8B-DF1C-85C5-3263-184368E184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265269" y="1137559"/>
            <a:ext cx="1327099" cy="736617"/>
          </a:xfrm>
          <a:prstGeom prst="rect">
            <a:avLst/>
          </a:prstGeom>
        </p:spPr>
      </p:pic>
      <p:pic>
        <p:nvPicPr>
          <p:cNvPr id="8" name="picture 92">
            <a:extLst>
              <a:ext uri="{FF2B5EF4-FFF2-40B4-BE49-F238E27FC236}">
                <a16:creationId xmlns:a16="http://schemas.microsoft.com/office/drawing/2014/main" id="{616B2213-028A-FD3E-A39A-D1F09949E3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589" y="942797"/>
            <a:ext cx="2917224" cy="5071797"/>
          </a:xfrm>
          <a:prstGeom prst="rect">
            <a:avLst/>
          </a:prstGeom>
        </p:spPr>
      </p:pic>
      <p:pic>
        <p:nvPicPr>
          <p:cNvPr id="3" name="Google Shape;90;p6" descr="360DigiTMG Reviews - 52 Reviews of 360digitmg.com | Sitejabber">
            <a:extLst>
              <a:ext uri="{FF2B5EF4-FFF2-40B4-BE49-F238E27FC236}">
                <a16:creationId xmlns:a16="http://schemas.microsoft.com/office/drawing/2014/main" id="{9F5EC577-D9A7-AB02-DF0C-E3679C54A70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454774" y="601459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7592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1F32-A982-121C-32B5-26168EB52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Business Problem: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7ACE53-935B-4C83-6ECD-C00C766269F7}"/>
              </a:ext>
            </a:extLst>
          </p:cNvPr>
          <p:cNvSpPr txBox="1"/>
          <p:nvPr/>
        </p:nvSpPr>
        <p:spPr>
          <a:xfrm>
            <a:off x="627529" y="1306836"/>
            <a:ext cx="952051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u="sng" dirty="0" err="1"/>
              <a:t>Gynecologist</a:t>
            </a:r>
            <a:r>
              <a:rPr lang="en-IN" sz="2000" b="1" u="sng" dirty="0"/>
              <a:t> &amp; Patient Impact:</a:t>
            </a:r>
          </a:p>
          <a:p>
            <a:endParaRPr lang="en-IN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Limited ability to predict and explain IVF success probabilities to patients</a:t>
            </a:r>
          </a:p>
          <a:p>
            <a:r>
              <a:rPr lang="en-US" sz="1800" dirty="0"/>
              <a:t>     early in the treatment.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Delayed outcome clarity</a:t>
            </a:r>
            <a:r>
              <a:rPr lang="en-US" sz="1800" dirty="0"/>
              <a:t> makes patient counseling challenging and </a:t>
            </a:r>
          </a:p>
          <a:p>
            <a:r>
              <a:rPr lang="en-US" sz="1800" dirty="0"/>
              <a:t>     increases anxiety.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Difficulty in setting </a:t>
            </a:r>
            <a:r>
              <a:rPr lang="en-US" sz="1800" b="1" dirty="0"/>
              <a:t>realistic expectations </a:t>
            </a:r>
            <a:r>
              <a:rPr lang="en-US" sz="1800" dirty="0"/>
              <a:t>around embryo quality and </a:t>
            </a:r>
          </a:p>
          <a:p>
            <a:r>
              <a:rPr lang="en-US" sz="1800" dirty="0"/>
              <a:t>     implantation chances.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Lack of data-backed insights to support </a:t>
            </a:r>
            <a:r>
              <a:rPr lang="en-US" sz="1800" b="1" dirty="0"/>
              <a:t>treatment personalization.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Reduced patient trust and satisfaction due to </a:t>
            </a:r>
            <a:r>
              <a:rPr lang="en-US" sz="1800" b="1" dirty="0"/>
              <a:t>uncertain timelines </a:t>
            </a:r>
          </a:p>
          <a:p>
            <a:r>
              <a:rPr lang="en-US" sz="1800" b="1" dirty="0"/>
              <a:t>    and outcomes</a:t>
            </a:r>
            <a:r>
              <a:rPr lang="en-US" sz="1800" dirty="0"/>
              <a:t>.</a:t>
            </a:r>
            <a:endParaRPr lang="en-IN" sz="1800" dirty="0"/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044A3C29-B0ED-E240-94B4-54C2BCFEA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8445751" y="910967"/>
            <a:ext cx="3956060" cy="4853730"/>
          </a:xfrm>
          <a:prstGeom prst="rect">
            <a:avLst/>
          </a:prstGeom>
        </p:spPr>
      </p:pic>
      <p:pic>
        <p:nvPicPr>
          <p:cNvPr id="3" name="Google Shape;90;p6" descr="360DigiTMG Reviews - 52 Reviews of 360digitmg.com | Sitejabber">
            <a:extLst>
              <a:ext uri="{FF2B5EF4-FFF2-40B4-BE49-F238E27FC236}">
                <a16:creationId xmlns:a16="http://schemas.microsoft.com/office/drawing/2014/main" id="{147637E1-3223-1D65-668B-22E581F747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053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f3a8d4be09_2_92"/>
          <p:cNvSpPr txBox="1">
            <a:spLocks noGrp="1"/>
          </p:cNvSpPr>
          <p:nvPr>
            <p:ph type="title"/>
          </p:nvPr>
        </p:nvSpPr>
        <p:spPr>
          <a:xfrm>
            <a:off x="228600" y="191607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Project Overview and Scope</a:t>
            </a:r>
            <a:endParaRPr sz="32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gf3a8d4be09_2_9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7" name="Google Shape;97;gf3a8d4be09_2_92"/>
          <p:cNvSpPr txBox="1"/>
          <p:nvPr/>
        </p:nvSpPr>
        <p:spPr>
          <a:xfrm>
            <a:off x="4099475" y="1187700"/>
            <a:ext cx="216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f3a8d4be09_2_92"/>
          <p:cNvSpPr txBox="1"/>
          <p:nvPr/>
        </p:nvSpPr>
        <p:spPr>
          <a:xfrm>
            <a:off x="6053425" y="2493975"/>
            <a:ext cx="3409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gf3a8d4be09_2_92"/>
          <p:cNvSpPr txBox="1"/>
          <p:nvPr/>
        </p:nvSpPr>
        <p:spPr>
          <a:xfrm>
            <a:off x="5938500" y="3792975"/>
            <a:ext cx="32757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f3a8d4be09_2_92"/>
          <p:cNvSpPr txBox="1"/>
          <p:nvPr/>
        </p:nvSpPr>
        <p:spPr>
          <a:xfrm>
            <a:off x="-1091900" y="2720225"/>
            <a:ext cx="3888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endParaRPr sz="30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1" name="Google Shape;101;gf3a8d4be09_2_9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A3027F-E768-71BE-5A7B-B324DDACC14B}"/>
              </a:ext>
            </a:extLst>
          </p:cNvPr>
          <p:cNvSpPr txBox="1"/>
          <p:nvPr/>
        </p:nvSpPr>
        <p:spPr>
          <a:xfrm>
            <a:off x="228600" y="1243811"/>
            <a:ext cx="11863062" cy="78617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2700" eaLnBrk="0">
              <a:lnSpc>
                <a:spcPct val="81000"/>
              </a:lnSpc>
            </a:pPr>
            <a:r>
              <a:rPr lang="en-IN" b="1" spc="-40" dirty="0">
                <a:solidFill>
                  <a:srgbClr val="000000">
                    <a:alpha val="100000"/>
                  </a:srgbClr>
                </a:solidFill>
              </a:rPr>
              <a:t>                       </a:t>
            </a:r>
            <a:r>
              <a:rPr lang="en-IN" sz="1800" b="1" spc="-40" dirty="0">
                <a:solidFill>
                  <a:srgbClr val="000000">
                    <a:alpha val="100000"/>
                  </a:srgbClr>
                </a:solidFill>
              </a:rPr>
              <a:t>Reduce Inte</a:t>
            </a:r>
            <a:r>
              <a:rPr lang="en-IN" sz="1800" b="1" spc="-50" dirty="0">
                <a:solidFill>
                  <a:srgbClr val="000000">
                    <a:alpha val="100000"/>
                  </a:srgbClr>
                </a:solidFill>
              </a:rPr>
              <a:t>r-Observer Variability: 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Implementing Al-powered standardization to address the</a:t>
            </a:r>
            <a:r>
              <a:rPr lang="en-US" sz="1600" spc="12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25-40%variability</a:t>
            </a:r>
            <a:r>
              <a:rPr lang="en-US" sz="1600" spc="17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in</a:t>
            </a:r>
            <a:endParaRPr lang="en-US" sz="1600" dirty="0"/>
          </a:p>
          <a:p>
            <a:pPr marL="12700" eaLnBrk="0">
              <a:lnSpc>
                <a:spcPts val="2301"/>
              </a:lnSpc>
            </a:pP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                   embryo grading pro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cesses</a:t>
            </a:r>
            <a:endParaRPr lang="en-US" sz="1600" dirty="0"/>
          </a:p>
          <a:p>
            <a:pPr marL="12700" eaLnBrk="0">
              <a:lnSpc>
                <a:spcPct val="81000"/>
              </a:lnSpc>
            </a:pPr>
            <a:endParaRPr lang="en-IN" dirty="0"/>
          </a:p>
        </p:txBody>
      </p:sp>
      <p:pic>
        <p:nvPicPr>
          <p:cNvPr id="5" name="picture 174">
            <a:extLst>
              <a:ext uri="{FF2B5EF4-FFF2-40B4-BE49-F238E27FC236}">
                <a16:creationId xmlns:a16="http://schemas.microsoft.com/office/drawing/2014/main" id="{ADBFB097-B413-52BD-8693-BAC0E7A90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4733" y="1217108"/>
            <a:ext cx="572307" cy="5902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5E6C35-3697-9815-E355-220BC9E22D53}"/>
              </a:ext>
            </a:extLst>
          </p:cNvPr>
          <p:cNvSpPr txBox="1"/>
          <p:nvPr/>
        </p:nvSpPr>
        <p:spPr>
          <a:xfrm>
            <a:off x="639892" y="2165358"/>
            <a:ext cx="11304104" cy="6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spc="-50" dirty="0">
                <a:solidFill>
                  <a:srgbClr val="000000">
                    <a:alpha val="100000"/>
                  </a:srgbClr>
                </a:solidFill>
              </a:rPr>
              <a:t>                   </a:t>
            </a:r>
            <a:r>
              <a:rPr lang="en-IN" sz="1800" b="1" spc="-50" dirty="0">
                <a:solidFill>
                  <a:srgbClr val="000000">
                    <a:alpha val="100000"/>
                  </a:srgbClr>
                </a:solidFill>
              </a:rPr>
              <a:t>Improve</a:t>
            </a:r>
            <a:r>
              <a:rPr lang="en-IN" sz="1800" b="1" spc="18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IN" sz="1800" b="1" spc="-50" dirty="0">
                <a:solidFill>
                  <a:srgbClr val="000000">
                    <a:alpha val="100000"/>
                  </a:srgbClr>
                </a:solidFill>
              </a:rPr>
              <a:t>Implantation Success</a:t>
            </a:r>
            <a:r>
              <a:rPr lang="en-IN" sz="1800" b="1" spc="12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IN" sz="1800" b="1" spc="-50" dirty="0">
                <a:solidFill>
                  <a:srgbClr val="000000">
                    <a:alpha val="100000"/>
                  </a:srgbClr>
                </a:solidFill>
              </a:rPr>
              <a:t>Rate: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Targeting</a:t>
            </a:r>
            <a:r>
              <a:rPr lang="en-US" sz="1600" spc="39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15-20%improvement</a:t>
            </a:r>
            <a:r>
              <a:rPr lang="en-US" sz="1600" spc="31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in</a:t>
            </a:r>
            <a:r>
              <a:rPr lang="en-US" sz="1600" spc="31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implantation</a:t>
            </a:r>
            <a:r>
              <a:rPr lang="en-US" sz="1600" spc="31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potentia</a:t>
            </a:r>
            <a:r>
              <a:rPr lang="en-US" sz="1600" spc="-20" dirty="0">
                <a:solidFill>
                  <a:srgbClr val="000000">
                    <a:alpha val="100000"/>
                  </a:srgbClr>
                </a:solidFill>
              </a:rPr>
              <a:t>l  </a:t>
            </a:r>
          </a:p>
          <a:p>
            <a:r>
              <a:rPr lang="en-US" sz="1600" spc="-20" dirty="0">
                <a:solidFill>
                  <a:srgbClr val="000000">
                    <a:alpha val="100000"/>
                  </a:srgbClr>
                </a:solidFill>
              </a:rPr>
              <a:t>             through data-driven embryo selection. </a:t>
            </a:r>
            <a:endParaRPr lang="en-IN" sz="1600" dirty="0"/>
          </a:p>
        </p:txBody>
      </p:sp>
      <p:pic>
        <p:nvPicPr>
          <p:cNvPr id="7" name="picture 170">
            <a:extLst>
              <a:ext uri="{FF2B5EF4-FFF2-40B4-BE49-F238E27FC236}">
                <a16:creationId xmlns:a16="http://schemas.microsoft.com/office/drawing/2014/main" id="{42A30D07-98A0-3F62-3144-A7241A0B1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17879" y="2090359"/>
            <a:ext cx="611125" cy="6155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7B8F155-ED28-E4E5-73EC-429EE2ACAB0C}"/>
              </a:ext>
            </a:extLst>
          </p:cNvPr>
          <p:cNvSpPr txBox="1"/>
          <p:nvPr/>
        </p:nvSpPr>
        <p:spPr>
          <a:xfrm>
            <a:off x="3333867" y="3138943"/>
            <a:ext cx="8109205" cy="61555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800" b="1" dirty="0"/>
              <a:t>Identification of key success indicators: </a:t>
            </a:r>
            <a:r>
              <a:rPr lang="en-IN" sz="1600" dirty="0"/>
              <a:t>Analysis of embryo quality , day of transfer, AMH, FSH level, Endometrial Thickness, Blastocyst Stage.</a:t>
            </a:r>
          </a:p>
        </p:txBody>
      </p:sp>
      <p:pic>
        <p:nvPicPr>
          <p:cNvPr id="9" name="picture 60">
            <a:extLst>
              <a:ext uri="{FF2B5EF4-FFF2-40B4-BE49-F238E27FC236}">
                <a16:creationId xmlns:a16="http://schemas.microsoft.com/office/drawing/2014/main" id="{19E23695-946E-9E91-A7DA-9B78D5E8A9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64734" y="2768985"/>
            <a:ext cx="2413066" cy="1287977"/>
          </a:xfrm>
          <a:prstGeom prst="rect">
            <a:avLst/>
          </a:prstGeom>
        </p:spPr>
      </p:pic>
      <p:pic>
        <p:nvPicPr>
          <p:cNvPr id="10" name="picture 166">
            <a:extLst>
              <a:ext uri="{FF2B5EF4-FFF2-40B4-BE49-F238E27FC236}">
                <a16:creationId xmlns:a16="http://schemas.microsoft.com/office/drawing/2014/main" id="{0E533DD1-90EA-79BD-795C-995525507A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75060" y="4439475"/>
            <a:ext cx="769765" cy="646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62544F-42DD-855E-F4F8-71FDE261D975}"/>
              </a:ext>
            </a:extLst>
          </p:cNvPr>
          <p:cNvSpPr txBox="1"/>
          <p:nvPr/>
        </p:nvSpPr>
        <p:spPr>
          <a:xfrm>
            <a:off x="1959429" y="4549282"/>
            <a:ext cx="8109205" cy="50571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2700" eaLnBrk="0">
              <a:lnSpc>
                <a:spcPct val="79000"/>
              </a:lnSpc>
              <a:spcBef>
                <a:spcPts val="1596"/>
              </a:spcBef>
            </a:pPr>
            <a:r>
              <a:rPr lang="en-US" sz="1800" b="1" spc="-60" dirty="0">
                <a:solidFill>
                  <a:srgbClr val="000000">
                    <a:alpha val="100000"/>
                  </a:srgbClr>
                </a:solidFill>
              </a:rPr>
              <a:t>Enhance Cost</a:t>
            </a:r>
            <a:r>
              <a:rPr lang="en-US" sz="1800" b="1" spc="13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b="1" spc="-60" dirty="0">
                <a:solidFill>
                  <a:srgbClr val="000000">
                    <a:alpha val="100000"/>
                  </a:srgbClr>
                </a:solidFill>
              </a:rPr>
              <a:t>Efficiency: 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Reducing the</a:t>
            </a:r>
            <a:r>
              <a:rPr lang="en-US" sz="1600" spc="26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10-15%operational</a:t>
            </a:r>
            <a:r>
              <a:rPr lang="en-US" sz="1600" spc="14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cost</a:t>
            </a:r>
            <a:r>
              <a:rPr lang="en-US" sz="1600" spc="19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inflation through</a:t>
            </a:r>
            <a:r>
              <a:rPr lang="en-US" sz="1600" spc="14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automation</a:t>
            </a:r>
            <a:r>
              <a:rPr lang="en-US" sz="1600" spc="14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and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standardized</a:t>
            </a:r>
            <a:r>
              <a:rPr lang="en-US" sz="1600" spc="28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procedures</a:t>
            </a:r>
            <a:endParaRPr lang="en-US" sz="1600" dirty="0"/>
          </a:p>
        </p:txBody>
      </p:sp>
      <p:pic>
        <p:nvPicPr>
          <p:cNvPr id="13" name="picture 168">
            <a:extLst>
              <a:ext uri="{FF2B5EF4-FFF2-40B4-BE49-F238E27FC236}">
                <a16:creationId xmlns:a16="http://schemas.microsoft.com/office/drawing/2014/main" id="{9C61FF63-C38E-FD04-7618-911F218058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89359" y="5306431"/>
            <a:ext cx="575953" cy="6465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7C8ABE9-D4A0-BC31-E09D-712587795AC8}"/>
              </a:ext>
            </a:extLst>
          </p:cNvPr>
          <p:cNvSpPr txBox="1"/>
          <p:nvPr/>
        </p:nvSpPr>
        <p:spPr>
          <a:xfrm>
            <a:off x="1885595" y="5458002"/>
            <a:ext cx="7644611" cy="50045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marL="12700" eaLnBrk="0">
              <a:lnSpc>
                <a:spcPct val="78000"/>
              </a:lnSpc>
            </a:pPr>
            <a:r>
              <a:rPr lang="en-US" sz="1800" b="1" spc="-50" dirty="0">
                <a:solidFill>
                  <a:srgbClr val="000000">
                    <a:alpha val="100000"/>
                  </a:srgbClr>
                </a:solidFill>
              </a:rPr>
              <a:t>Develop</a:t>
            </a:r>
            <a:r>
              <a:rPr lang="en-US" sz="1800" b="1" spc="17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b="1" spc="-50" dirty="0">
                <a:solidFill>
                  <a:srgbClr val="000000">
                    <a:alpha val="100000"/>
                  </a:srgbClr>
                </a:solidFill>
              </a:rPr>
              <a:t>Predictive</a:t>
            </a:r>
            <a:r>
              <a:rPr lang="en-US" sz="1800" b="1" spc="12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800" b="1" spc="-50" dirty="0">
                <a:solidFill>
                  <a:srgbClr val="000000">
                    <a:alpha val="100000"/>
                  </a:srgbClr>
                </a:solidFill>
              </a:rPr>
              <a:t>Framework: 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Creating an evidence-based mod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el using</a:t>
            </a:r>
            <a:r>
              <a:rPr lang="en-US" sz="1600" spc="11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historical data</a:t>
            </a:r>
            <a:r>
              <a:rPr lang="en-US" sz="1600" spc="6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analysis</a:t>
            </a:r>
            <a:r>
              <a:rPr lang="en-US" sz="1600" spc="6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and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 advanced Al</a:t>
            </a:r>
            <a:r>
              <a:rPr lang="en-US" sz="1600" spc="150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sz="1600" dirty="0">
                <a:solidFill>
                  <a:srgbClr val="000000">
                    <a:alpha val="100000"/>
                  </a:srgbClr>
                </a:solidFill>
              </a:rPr>
              <a:t>algori</a:t>
            </a:r>
            <a:r>
              <a:rPr lang="en-US" sz="1600" spc="-10" dirty="0">
                <a:solidFill>
                  <a:srgbClr val="000000">
                    <a:alpha val="100000"/>
                  </a:srgbClr>
                </a:solidFill>
              </a:rPr>
              <a:t>thms.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0" y="177790"/>
            <a:ext cx="105156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Dictionary </a:t>
            </a:r>
            <a:endParaRPr sz="320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7" name="Google Shape;107;p1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92919" y="5896947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0ACD60-3EC3-FCBF-F050-3626FB087CEE}"/>
              </a:ext>
            </a:extLst>
          </p:cNvPr>
          <p:cNvSpPr txBox="1"/>
          <p:nvPr/>
        </p:nvSpPr>
        <p:spPr>
          <a:xfrm>
            <a:off x="1238131" y="1090465"/>
            <a:ext cx="1045596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 </a:t>
            </a:r>
            <a:r>
              <a:rPr lang="en-IN" sz="1800" b="1" dirty="0"/>
              <a:t>Patient Demographics Drive IVF Outcomes: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dataset enables analysis of </a:t>
            </a:r>
            <a:r>
              <a:rPr lang="en-US" sz="1600" b="1" dirty="0"/>
              <a:t>age-related success rate trends</a:t>
            </a:r>
            <a:r>
              <a:rPr lang="en-US" sz="1600" dirty="0"/>
              <a:t>, supporting personalized treatment counseling.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Helps clinicians identify </a:t>
            </a:r>
            <a:r>
              <a:rPr lang="en-US" sz="1600" b="1" dirty="0"/>
              <a:t>high-risk age groups</a:t>
            </a:r>
            <a:r>
              <a:rPr lang="en-US" sz="1600" dirty="0"/>
              <a:t> early in the IVF journey</a:t>
            </a:r>
            <a:endParaRPr lang="en-IN" sz="1600" dirty="0"/>
          </a:p>
        </p:txBody>
      </p:sp>
      <p:pic>
        <p:nvPicPr>
          <p:cNvPr id="3" name="picture 290">
            <a:extLst>
              <a:ext uri="{FF2B5EF4-FFF2-40B4-BE49-F238E27FC236}">
                <a16:creationId xmlns:a16="http://schemas.microsoft.com/office/drawing/2014/main" id="{FDB9D3B2-75A0-5CC7-BB92-F85A6890F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39596" y="1090465"/>
            <a:ext cx="692139" cy="67311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D2D30E1-23C3-A536-04AC-3BABC8642660}"/>
              </a:ext>
            </a:extLst>
          </p:cNvPr>
          <p:cNvSpPr txBox="1"/>
          <p:nvPr/>
        </p:nvSpPr>
        <p:spPr>
          <a:xfrm>
            <a:off x="1397158" y="2260442"/>
            <a:ext cx="1005840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Embryo &amp; Cycle-Level Data Selection: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dictionary includes </a:t>
            </a:r>
            <a:r>
              <a:rPr lang="en-US" sz="1600" b="1" dirty="0"/>
              <a:t>embryo-level indicators</a:t>
            </a:r>
            <a:r>
              <a:rPr lang="en-US" sz="1600" dirty="0"/>
              <a:t> (grading, development stages).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Allows correlation analysis between: Embryo quality, Day of transfer, Implantation and live birth success.</a:t>
            </a:r>
          </a:p>
          <a:p>
            <a:endParaRPr lang="en-IN" sz="18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376D03-DD56-F133-93A9-7E7111885C2C}"/>
              </a:ext>
            </a:extLst>
          </p:cNvPr>
          <p:cNvSpPr txBox="1"/>
          <p:nvPr/>
        </p:nvSpPr>
        <p:spPr>
          <a:xfrm>
            <a:off x="1459633" y="3532651"/>
            <a:ext cx="958700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800" b="1" dirty="0"/>
              <a:t>Predictive &amp; Comparative Analysis: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 of </a:t>
            </a:r>
            <a:r>
              <a:rPr lang="en-US" sz="1600" b="1" dirty="0"/>
              <a:t>binary and numeric variables</a:t>
            </a:r>
            <a:r>
              <a:rPr lang="en-US" sz="1600" dirty="0"/>
              <a:t> makes the dataset suitable for: Trend analysis, Succes probability estimation, Risk stratification.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Enables comparison of outcomes across: Different clinicians, different protocols, different patient profiles</a:t>
            </a:r>
          </a:p>
          <a:p>
            <a:endParaRPr lang="en-US" sz="1600" dirty="0"/>
          </a:p>
          <a:p>
            <a:endParaRPr lang="en-IN" dirty="0"/>
          </a:p>
        </p:txBody>
      </p:sp>
      <p:pic>
        <p:nvPicPr>
          <p:cNvPr id="8" name="picture 288">
            <a:extLst>
              <a:ext uri="{FF2B5EF4-FFF2-40B4-BE49-F238E27FC236}">
                <a16:creationId xmlns:a16="http://schemas.microsoft.com/office/drawing/2014/main" id="{2C5F7408-FECB-402E-5E70-BC49A9017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88877" y="2335243"/>
            <a:ext cx="895550" cy="788484"/>
          </a:xfrm>
          <a:prstGeom prst="rect">
            <a:avLst/>
          </a:prstGeom>
        </p:spPr>
      </p:pic>
      <p:pic>
        <p:nvPicPr>
          <p:cNvPr id="9" name="picture 138">
            <a:extLst>
              <a:ext uri="{FF2B5EF4-FFF2-40B4-BE49-F238E27FC236}">
                <a16:creationId xmlns:a16="http://schemas.microsoft.com/office/drawing/2014/main" id="{B5A3D225-2862-8DC4-0DF8-8092EA183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35107" y="3682550"/>
            <a:ext cx="749320" cy="100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>
            <a:spLocks noGrp="1"/>
          </p:cNvSpPr>
          <p:nvPr>
            <p:ph type="title"/>
          </p:nvPr>
        </p:nvSpPr>
        <p:spPr>
          <a:xfrm>
            <a:off x="248194" y="147682"/>
            <a:ext cx="9247200" cy="53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Exploratory Data Analysis [EDA]</a:t>
            </a:r>
            <a:endParaRPr sz="3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609600" y="1181100"/>
            <a:ext cx="19431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5"/>
          <p:cNvSpPr txBox="1"/>
          <p:nvPr/>
        </p:nvSpPr>
        <p:spPr>
          <a:xfrm>
            <a:off x="3238500" y="2076450"/>
            <a:ext cx="899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8" name="Google Shape;118;p25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5"/>
          <p:cNvSpPr/>
          <p:nvPr/>
        </p:nvSpPr>
        <p:spPr>
          <a:xfrm>
            <a:off x="559838" y="1181100"/>
            <a:ext cx="5374433" cy="4771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5"/>
          <p:cNvSpPr/>
          <p:nvPr/>
        </p:nvSpPr>
        <p:spPr>
          <a:xfrm>
            <a:off x="6187475" y="1181100"/>
            <a:ext cx="5374433" cy="4771831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5"/>
          <p:cNvSpPr txBox="1"/>
          <p:nvPr/>
        </p:nvSpPr>
        <p:spPr>
          <a:xfrm>
            <a:off x="559838" y="1181100"/>
            <a:ext cx="53744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Statistical Insights</a:t>
            </a:r>
            <a:endParaRPr sz="14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5"/>
          <p:cNvSpPr txBox="1"/>
          <p:nvPr/>
        </p:nvSpPr>
        <p:spPr>
          <a:xfrm>
            <a:off x="6187475" y="1175021"/>
            <a:ext cx="537443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sng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Insights</a:t>
            </a:r>
            <a:endParaRPr sz="1400" b="1" i="0" u="sng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BC907-137D-457E-54AA-8593A123E2D6}"/>
              </a:ext>
            </a:extLst>
          </p:cNvPr>
          <p:cNvSpPr txBox="1"/>
          <p:nvPr/>
        </p:nvSpPr>
        <p:spPr>
          <a:xfrm>
            <a:off x="738335" y="1796700"/>
            <a:ext cx="511280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📊 </a:t>
            </a:r>
            <a:r>
              <a:rPr lang="en-IN" sz="1600" b="1" dirty="0"/>
              <a:t>Average Female Age (~32 years)</a:t>
            </a:r>
            <a:br>
              <a:rPr lang="en-IN" dirty="0"/>
            </a:br>
            <a:r>
              <a:rPr lang="en-IN" dirty="0"/>
              <a:t>→ Indicates majority patients are in optimal reproductive age group</a:t>
            </a:r>
          </a:p>
          <a:p>
            <a:r>
              <a:rPr lang="en-IN" sz="1600" dirty="0"/>
              <a:t>👨‍⚕️ </a:t>
            </a:r>
            <a:r>
              <a:rPr lang="en-IN" sz="1600" b="1" dirty="0"/>
              <a:t>Male Age Shows Higher Variability</a:t>
            </a:r>
            <a:br>
              <a:rPr lang="en-IN" dirty="0"/>
            </a:br>
            <a:r>
              <a:rPr lang="en-IN" dirty="0"/>
              <a:t>→ Wider spread compared to female age</a:t>
            </a:r>
          </a:p>
          <a:p>
            <a:r>
              <a:rPr lang="en-IN" sz="1600" dirty="0"/>
              <a:t>🧬 </a:t>
            </a:r>
            <a:r>
              <a:rPr lang="en-IN" sz="1600" b="1" dirty="0"/>
              <a:t>AMH is Positively Skewed (1.26)</a:t>
            </a:r>
            <a:br>
              <a:rPr lang="en-IN" dirty="0"/>
            </a:br>
            <a:r>
              <a:rPr lang="en-IN" dirty="0"/>
              <a:t>→ Majority patients have low ovarian reserve</a:t>
            </a:r>
          </a:p>
          <a:p>
            <a:r>
              <a:rPr lang="en-IN" sz="1600" dirty="0"/>
              <a:t>⚗️ </a:t>
            </a:r>
            <a:r>
              <a:rPr lang="en-IN" sz="1600" b="1" dirty="0"/>
              <a:t>FSH Shows Positive Skewness (1.05)</a:t>
            </a:r>
            <a:br>
              <a:rPr lang="en-IN" dirty="0"/>
            </a:br>
            <a:r>
              <a:rPr lang="en-IN" dirty="0"/>
              <a:t>→ Many patients fall in borderline/high FSH range</a:t>
            </a:r>
          </a:p>
          <a:p>
            <a:r>
              <a:rPr lang="en-IN" sz="1600" dirty="0"/>
              <a:t>📉 </a:t>
            </a:r>
            <a:r>
              <a:rPr lang="en-IN" sz="1600" b="1" dirty="0"/>
              <a:t>Low Variance but High Kurtosis in AMH</a:t>
            </a:r>
            <a:br>
              <a:rPr lang="en-IN" dirty="0"/>
            </a:br>
            <a:r>
              <a:rPr lang="en-IN" dirty="0"/>
              <a:t>→ Clustered values with few extreme responders</a:t>
            </a:r>
          </a:p>
          <a:p>
            <a:r>
              <a:rPr lang="en-IN" sz="1600" dirty="0"/>
              <a:t>📐 </a:t>
            </a:r>
            <a:r>
              <a:rPr lang="en-IN" sz="1600" b="1" dirty="0"/>
              <a:t>Female Age Distribution is Stable</a:t>
            </a:r>
            <a:br>
              <a:rPr lang="en-IN" dirty="0"/>
            </a:br>
            <a:r>
              <a:rPr lang="en-IN" dirty="0"/>
              <a:t>→ Near-zero skewness suggests reliable age data</a:t>
            </a:r>
          </a:p>
          <a:p>
            <a:r>
              <a:rPr lang="en-IN" sz="1600" dirty="0"/>
              <a:t>🚨 </a:t>
            </a:r>
            <a:r>
              <a:rPr lang="en-IN" sz="1600" b="1" dirty="0"/>
              <a:t>High AMH Kurtosis (3.81)</a:t>
            </a:r>
            <a:br>
              <a:rPr lang="en-IN" sz="1600" dirty="0"/>
            </a:br>
            <a:r>
              <a:rPr lang="en-IN" dirty="0"/>
              <a:t>→ Presence of extreme low &amp; high responders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D3D50B-7E3B-E272-726D-C7E2DCC4E401}"/>
              </a:ext>
            </a:extLst>
          </p:cNvPr>
          <p:cNvSpPr txBox="1"/>
          <p:nvPr/>
        </p:nvSpPr>
        <p:spPr>
          <a:xfrm>
            <a:off x="6326966" y="1641376"/>
            <a:ext cx="51266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🎯 </a:t>
            </a:r>
            <a:r>
              <a:rPr lang="en-US" sz="1600" b="1" dirty="0"/>
              <a:t>High IVF Potential Patient Base</a:t>
            </a:r>
            <a:br>
              <a:rPr lang="en-US" dirty="0"/>
            </a:br>
            <a:r>
              <a:rPr lang="en-US" dirty="0"/>
              <a:t>→ Majority patients are in early 30s</a:t>
            </a:r>
          </a:p>
          <a:p>
            <a:r>
              <a:rPr lang="en-US" sz="1600" dirty="0"/>
              <a:t>⚠️ </a:t>
            </a:r>
            <a:r>
              <a:rPr lang="en-US" sz="1600" b="1" dirty="0"/>
              <a:t>Early Ovarian Reserve Screening is Critical</a:t>
            </a:r>
            <a:br>
              <a:rPr lang="en-US" dirty="0"/>
            </a:br>
            <a:r>
              <a:rPr lang="en-US" dirty="0"/>
              <a:t>→ Skewed AMH &amp; FSH distributions</a:t>
            </a:r>
          </a:p>
          <a:p>
            <a:r>
              <a:rPr lang="en-US" sz="1600" dirty="0"/>
              <a:t>💊 </a:t>
            </a:r>
            <a:r>
              <a:rPr lang="en-US" sz="1600" b="1" dirty="0"/>
              <a:t>Medication &amp; Cost Optimization Opportunity</a:t>
            </a:r>
            <a:br>
              <a:rPr lang="en-US" sz="1600" dirty="0"/>
            </a:br>
            <a:r>
              <a:rPr lang="en-US" dirty="0"/>
              <a:t>→ Hormonal variability impacts dosing</a:t>
            </a:r>
          </a:p>
          <a:p>
            <a:r>
              <a:rPr lang="en-US" sz="1600" dirty="0"/>
              <a:t>🔍 </a:t>
            </a:r>
            <a:r>
              <a:rPr lang="en-US" sz="1600" b="1" dirty="0"/>
              <a:t>Early Identification of Poor &amp; High Responders</a:t>
            </a:r>
            <a:br>
              <a:rPr lang="en-US" dirty="0"/>
            </a:br>
            <a:r>
              <a:rPr lang="en-US" dirty="0"/>
              <a:t>→ Reduces cycle cancellations</a:t>
            </a:r>
          </a:p>
          <a:p>
            <a:r>
              <a:rPr lang="en-US" sz="1600" dirty="0"/>
              <a:t>🧠 </a:t>
            </a:r>
            <a:r>
              <a:rPr lang="en-US" sz="1600" b="1" dirty="0"/>
              <a:t>Better Patient Counseling &amp; Expectation Setting</a:t>
            </a:r>
            <a:br>
              <a:rPr lang="en-US" dirty="0"/>
            </a:br>
            <a:r>
              <a:rPr lang="en-US" dirty="0"/>
              <a:t>→ Data-backed success probability discussion</a:t>
            </a:r>
          </a:p>
          <a:p>
            <a:r>
              <a:rPr lang="en-US" sz="1600" dirty="0"/>
              <a:t>📊 </a:t>
            </a:r>
            <a:r>
              <a:rPr lang="en-US" sz="1600" b="1" dirty="0"/>
              <a:t>Foundation for Clinical Decision Dashboards</a:t>
            </a:r>
            <a:br>
              <a:rPr lang="en-US" dirty="0"/>
            </a:br>
            <a:r>
              <a:rPr lang="en-US" dirty="0"/>
              <a:t>→ Supports doctors, embryologists, and management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>
                <a:latin typeface="Times New Roman"/>
                <a:ea typeface="Times New Roman"/>
                <a:cs typeface="Times New Roman"/>
                <a:sym typeface="Times New Roman"/>
              </a:rPr>
              <a:t>Data Preprocessing</a:t>
            </a:r>
            <a:endParaRPr/>
          </a:p>
        </p:txBody>
      </p:sp>
      <p:pic>
        <p:nvPicPr>
          <p:cNvPr id="130" name="Google Shape;130;p30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3F5972-8AA9-A356-B913-43ADA70665C8}"/>
              </a:ext>
            </a:extLst>
          </p:cNvPr>
          <p:cNvSpPr txBox="1"/>
          <p:nvPr/>
        </p:nvSpPr>
        <p:spPr>
          <a:xfrm>
            <a:off x="425963" y="1334683"/>
            <a:ext cx="1138172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🧹 Data Cleaning: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Removed duplicates and handled missing clinical and lab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Handled </a:t>
            </a:r>
            <a:r>
              <a:rPr lang="en-US" b="1" dirty="0"/>
              <a:t>missing values</a:t>
            </a:r>
            <a:r>
              <a:rPr lang="en-US" dirty="0"/>
              <a:t> in AMH, FSH, AFC, Oocytes Retrieved.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Corrected inconsistent </a:t>
            </a:r>
            <a:r>
              <a:rPr lang="en-IN" b="1" dirty="0"/>
              <a:t>categorical entries</a:t>
            </a:r>
            <a:r>
              <a:rPr lang="en-IN" dirty="0"/>
              <a:t> (Yes/No, Y/N)</a:t>
            </a:r>
          </a:p>
          <a:p>
            <a:r>
              <a:rPr lang="en-US" sz="1600" dirty="0"/>
              <a:t>🔢 </a:t>
            </a:r>
            <a:r>
              <a:rPr lang="en-US" sz="1600" b="1" dirty="0"/>
              <a:t>Standardization:</a:t>
            </a:r>
            <a:r>
              <a:rPr lang="en-US" sz="16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Unified data types, formats, and categorical values.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Converted </a:t>
            </a:r>
            <a:r>
              <a:rPr lang="en-US" b="1" dirty="0"/>
              <a:t>hormonal parameters</a:t>
            </a:r>
            <a:r>
              <a:rPr lang="en-US" dirty="0"/>
              <a:t> (AMH, FSH) to numeric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Standardized </a:t>
            </a:r>
            <a:r>
              <a:rPr lang="en-US" b="1" dirty="0"/>
              <a:t>age fields</a:t>
            </a:r>
            <a:r>
              <a:rPr lang="en-US" dirty="0"/>
              <a:t> as whole numbers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Ensured </a:t>
            </a:r>
            <a:r>
              <a:rPr lang="en-US" b="1" dirty="0"/>
              <a:t>date fields</a:t>
            </a:r>
            <a:r>
              <a:rPr lang="en-US" dirty="0"/>
              <a:t> followed consistent format.</a:t>
            </a:r>
          </a:p>
          <a:p>
            <a:r>
              <a:rPr lang="en-US" dirty="0"/>
              <a:t> 📉 </a:t>
            </a:r>
            <a:r>
              <a:rPr lang="en-US" b="1" dirty="0"/>
              <a:t>Outlier Management: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Identified extreme hormonal and response values while retaining clinically valid cases.</a:t>
            </a:r>
          </a:p>
          <a:p>
            <a:r>
              <a:rPr lang="en-US" dirty="0"/>
              <a:t>    </a:t>
            </a:r>
            <a:r>
              <a:rPr lang="en-US" b="1" dirty="0"/>
              <a:t>Feature Engineering: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Created </a:t>
            </a:r>
            <a:r>
              <a:rPr lang="en-US" b="1" dirty="0"/>
              <a:t>Age Groups</a:t>
            </a:r>
            <a:r>
              <a:rPr lang="en-US" dirty="0"/>
              <a:t> (≤30, 31–35, 36–40, &gt;40)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Categorized </a:t>
            </a:r>
            <a:r>
              <a:rPr lang="en-US" b="1" dirty="0"/>
              <a:t>AMH levels</a:t>
            </a:r>
            <a:r>
              <a:rPr lang="en-US" dirty="0"/>
              <a:t> (Low / Normal / High)</a:t>
            </a:r>
          </a:p>
          <a:p>
            <a:r>
              <a:rPr lang="en-IN" dirty="0"/>
              <a:t>🔍 </a:t>
            </a:r>
            <a:r>
              <a:rPr lang="en-IN" b="1" dirty="0"/>
              <a:t>Data Validation: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Cross-checked lab values with clinical ranges.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Ensured logical relationships (e.g., AMH vs Oocytes)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Verified no negative or impossible values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2"/>
          <p:cNvSpPr txBox="1">
            <a:spLocks noGrp="1"/>
          </p:cNvSpPr>
          <p:nvPr>
            <p:ph type="title"/>
          </p:nvPr>
        </p:nvSpPr>
        <p:spPr>
          <a:xfrm>
            <a:off x="228600" y="177790"/>
            <a:ext cx="10515600" cy="535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675" rIns="91400" bIns="45675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Georgia"/>
              <a:buNone/>
            </a:pPr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 dirty="0"/>
          </a:p>
        </p:txBody>
      </p:sp>
      <p:sp>
        <p:nvSpPr>
          <p:cNvPr id="137" name="Google Shape;137;p32"/>
          <p:cNvSpPr txBox="1"/>
          <p:nvPr/>
        </p:nvSpPr>
        <p:spPr>
          <a:xfrm>
            <a:off x="666750" y="1352550"/>
            <a:ext cx="109728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2"/>
          <p:cNvSpPr txBox="1"/>
          <p:nvPr/>
        </p:nvSpPr>
        <p:spPr>
          <a:xfrm>
            <a:off x="228600" y="1016510"/>
            <a:ext cx="6023591" cy="4924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1400"/>
            </a:pPr>
            <a:r>
              <a:rPr lang="en-US" sz="1600" b="1" dirty="0"/>
              <a:t>    </a:t>
            </a:r>
            <a:r>
              <a:rPr lang="en-US" sz="1600" b="1" u="sng" dirty="0"/>
              <a:t> Executive Overview: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endParaRPr lang="en-US" dirty="0"/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🧠 High overall success rate enhances </a:t>
            </a:r>
            <a:r>
              <a:rPr lang="en-US" b="1" dirty="0"/>
              <a:t>clinic credibility and patient trust. 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b="1" dirty="0"/>
              <a:t>⚠️ Older age groups represent a key focus area for protocol optimization and counseling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📉 Failed cycles analysis can help reduce costs and improve efficiency.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🎯 Dashboard enables </a:t>
            </a:r>
            <a:r>
              <a:rPr lang="en-US" b="1" dirty="0"/>
              <a:t>real-time monitoring of IVF performance KPIs</a:t>
            </a:r>
            <a:r>
              <a:rPr lang="en-US" dirty="0"/>
              <a:t> for leadership.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🟢 </a:t>
            </a:r>
            <a:r>
              <a:rPr lang="en-US" b="1" dirty="0"/>
              <a:t>Patients under 30 years</a:t>
            </a:r>
            <a:r>
              <a:rPr lang="en-US" dirty="0"/>
              <a:t> show the </a:t>
            </a:r>
            <a:r>
              <a:rPr lang="en-US" b="1" dirty="0"/>
              <a:t>highest success rate (91.12%).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b="1" dirty="0"/>
              <a:t>🟢 </a:t>
            </a:r>
            <a:r>
              <a:rPr lang="en-US" dirty="0"/>
              <a:t>Age group 30–35 maintains a strong success rate </a:t>
            </a:r>
            <a:r>
              <a:rPr lang="en-US" b="1" dirty="0"/>
              <a:t>of 88%, </a:t>
            </a:r>
            <a:r>
              <a:rPr lang="en-US" dirty="0"/>
              <a:t>while, 36–40 age group </a:t>
            </a:r>
            <a:r>
              <a:rPr lang="en-US" b="1" dirty="0"/>
              <a:t>(82.59%), indicating age-related fertility impact.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🔴 </a:t>
            </a:r>
            <a:r>
              <a:rPr lang="en-US" b="1" dirty="0"/>
              <a:t>Patients above 40</a:t>
            </a:r>
            <a:r>
              <a:rPr lang="en-US" dirty="0"/>
              <a:t> show the </a:t>
            </a:r>
            <a:r>
              <a:rPr lang="en-US" b="1" dirty="0"/>
              <a:t>lowest success rate (73.33%)</a:t>
            </a:r>
            <a:r>
              <a:rPr lang="en-US" dirty="0"/>
              <a:t>, requiring personalized treatment strategies.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✅ </a:t>
            </a:r>
            <a:r>
              <a:rPr lang="en-US" b="1" dirty="0"/>
              <a:t>Overall success rate is 87.15%</a:t>
            </a:r>
            <a:r>
              <a:rPr lang="en-US" dirty="0"/>
              <a:t>, indicating high clinical effectiveness.</a:t>
            </a:r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r>
              <a:rPr lang="en-US" dirty="0"/>
              <a:t>📉 Failed cycles account for </a:t>
            </a:r>
            <a:r>
              <a:rPr lang="en-US" b="1" dirty="0"/>
              <a:t>12.85%</a:t>
            </a:r>
            <a:r>
              <a:rPr lang="en-US" dirty="0"/>
              <a:t>, highlighting a smaller but important improvement opportunity.</a:t>
            </a:r>
            <a:endParaRPr lang="en-US" b="1" dirty="0"/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lvl="0" indent="-285750">
              <a:buSzPts val="1400"/>
              <a:buFont typeface="Arial" panose="020B0604020202020204" pitchFamily="34" charset="0"/>
              <a:buChar char="•"/>
            </a:pPr>
            <a:endParaRPr sz="1400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32" descr="360DigiTMG Reviews - 52 Reviews of 360digitmg.com | Sitejabbe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1545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DBBF8DF-F0EC-8109-04BD-21B17FB6FC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4876" y="849217"/>
            <a:ext cx="5469773" cy="48075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E6258-4AA3-DB59-91F0-E48A80BE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5513"/>
            <a:ext cx="10515600" cy="480041"/>
          </a:xfrm>
        </p:spPr>
        <p:txBody>
          <a:bodyPr/>
          <a:lstStyle/>
          <a:p>
            <a:r>
              <a:rPr lang="en-US" sz="28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76FCAB-1182-4FF3-555D-8589E0398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9339" y="437322"/>
            <a:ext cx="5425328" cy="561134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5965AD7-B3CC-4103-9EC8-D664F07FFF71}"/>
              </a:ext>
            </a:extLst>
          </p:cNvPr>
          <p:cNvSpPr txBox="1"/>
          <p:nvPr/>
        </p:nvSpPr>
        <p:spPr>
          <a:xfrm>
            <a:off x="127333" y="1096143"/>
            <a:ext cx="6370019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/>
              <a:t>Doctors Overview:</a:t>
            </a:r>
          </a:p>
          <a:p>
            <a:r>
              <a:rPr lang="en-IN" dirty="0"/>
              <a:t>👩‍⚕️ </a:t>
            </a:r>
            <a:r>
              <a:rPr lang="en-IN" u="sng" dirty="0"/>
              <a:t>Patient Profile Summary: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📊 </a:t>
            </a:r>
            <a:r>
              <a:rPr lang="en-US" b="1" dirty="0"/>
              <a:t>Average female age is 31.84 years</a:t>
            </a:r>
            <a:r>
              <a:rPr lang="en-US" dirty="0"/>
              <a:t>, indicating a predominantly optimal reproductive age group.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🧬 </a:t>
            </a:r>
            <a:r>
              <a:rPr lang="en-US" b="1" dirty="0"/>
              <a:t>Average AMH is 3.82 ng/ml</a:t>
            </a:r>
            <a:r>
              <a:rPr lang="en-US" dirty="0"/>
              <a:t>, suggesting overall good ovarian reserve.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🔬 </a:t>
            </a:r>
            <a:r>
              <a:rPr lang="en-US" b="1" dirty="0"/>
              <a:t>Average AFC is 20.22</a:t>
            </a:r>
            <a:r>
              <a:rPr lang="en-US" dirty="0"/>
              <a:t>, supporting strong follicular potential.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🩺 </a:t>
            </a:r>
            <a:r>
              <a:rPr lang="en-US" b="1" dirty="0"/>
              <a:t>Average endometrial thickness is ~10 mm</a:t>
            </a:r>
            <a:r>
              <a:rPr lang="en-US" dirty="0"/>
              <a:t>, within optimal implantation range.</a:t>
            </a:r>
          </a:p>
          <a:p>
            <a:r>
              <a:rPr lang="en-IN" dirty="0"/>
              <a:t>🧬</a:t>
            </a:r>
            <a:r>
              <a:rPr lang="en-IN" u="sng" dirty="0"/>
              <a:t> Ovarian Reserve &amp; Oocyte Yield: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🟢 </a:t>
            </a:r>
            <a:r>
              <a:rPr lang="en-US" b="1" dirty="0"/>
              <a:t>High AMH patients retrieve the highest number of oocytes (≈17.76).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🟡 </a:t>
            </a:r>
            <a:r>
              <a:rPr lang="en-US" b="1" dirty="0"/>
              <a:t>Normal AMH patients show moderate oocyte yield (≈12.16).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🔴 </a:t>
            </a:r>
            <a:r>
              <a:rPr lang="en-US" b="1" dirty="0"/>
              <a:t>Low AMH patients retrieve significantly fewer oocytes (≈5.31).</a:t>
            </a:r>
          </a:p>
          <a:p>
            <a:r>
              <a:rPr lang="en-US" dirty="0"/>
              <a:t>🧫</a:t>
            </a:r>
            <a:r>
              <a:rPr lang="en-US" u="sng" dirty="0"/>
              <a:t> Endometrial Thickness &amp; Protocol Trends: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📊 Endometrial thickness remains </a:t>
            </a:r>
            <a:r>
              <a:rPr lang="en-US" b="1" dirty="0"/>
              <a:t>largely stable over time</a:t>
            </a:r>
            <a:r>
              <a:rPr lang="en-US" dirty="0"/>
              <a:t> across preparation protocols.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🟢 </a:t>
            </a:r>
            <a:r>
              <a:rPr lang="en-US" b="1" dirty="0"/>
              <a:t>HRT and Natural cycles</a:t>
            </a:r>
            <a:r>
              <a:rPr lang="en-US" dirty="0"/>
              <a:t> show consistent endometrial development.</a:t>
            </a:r>
          </a:p>
          <a:p>
            <a:r>
              <a:rPr lang="en-IN" dirty="0"/>
              <a:t>💉</a:t>
            </a:r>
            <a:r>
              <a:rPr lang="en-IN" u="sng" dirty="0"/>
              <a:t> Stimulation Duration &amp; Lab Yield: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📈 </a:t>
            </a:r>
            <a:r>
              <a:rPr lang="en-US" b="1" dirty="0"/>
              <a:t>9–10 stimulation days</a:t>
            </a:r>
            <a:r>
              <a:rPr lang="en-US" dirty="0"/>
              <a:t> show the </a:t>
            </a:r>
            <a:r>
              <a:rPr lang="en-US" b="1" dirty="0"/>
              <a:t>highest cycle count and M2 oocytes (105).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🎯 Optimal stimulation window appears to be </a:t>
            </a:r>
            <a:r>
              <a:rPr lang="en-US" b="1" dirty="0"/>
              <a:t>9–10 days.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🤝 Enhances patient counseling with data-backed expectations</a:t>
            </a:r>
            <a:endParaRPr lang="en-IN" b="1" dirty="0"/>
          </a:p>
        </p:txBody>
      </p:sp>
      <p:pic>
        <p:nvPicPr>
          <p:cNvPr id="7" name="Google Shape;90;p6" descr="360DigiTMG Reviews - 52 Reviews of 360digitmg.com | Sitejabber">
            <a:extLst>
              <a:ext uri="{FF2B5EF4-FFF2-40B4-BE49-F238E27FC236}">
                <a16:creationId xmlns:a16="http://schemas.microsoft.com/office/drawing/2014/main" id="{F3FBF119-5F08-13F1-C322-314B059663F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25795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65333-8066-BAAE-E1CA-FCDC3A8640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77814"/>
            <a:ext cx="10515600" cy="535440"/>
          </a:xfrm>
        </p:spPr>
        <p:txBody>
          <a:bodyPr/>
          <a:lstStyle/>
          <a:p>
            <a:r>
              <a:rPr lang="en-US" sz="3200" b="1" dirty="0">
                <a:latin typeface="Times New Roman"/>
                <a:ea typeface="Times New Roman"/>
                <a:cs typeface="Times New Roman"/>
                <a:sym typeface="Times New Roman"/>
              </a:rPr>
              <a:t>Data Visualization 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05A07-B1C3-2837-3452-37062E4B4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1429" y="499796"/>
            <a:ext cx="5655157" cy="55431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2FE435D-DB3F-7D0B-ED40-C3CDE8D02442}"/>
              </a:ext>
            </a:extLst>
          </p:cNvPr>
          <p:cNvSpPr txBox="1"/>
          <p:nvPr/>
        </p:nvSpPr>
        <p:spPr>
          <a:xfrm>
            <a:off x="0" y="891682"/>
            <a:ext cx="6468954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🧫 </a:t>
            </a:r>
            <a:r>
              <a:rPr lang="en-IN" sz="1600" b="1" dirty="0"/>
              <a:t>Embryology Factors: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🧠 Embryology KPIs enable lab quality monitoring and benchmarking.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🎯 Supports decision-making on </a:t>
            </a:r>
            <a:r>
              <a:rPr lang="en-US" b="1" dirty="0"/>
              <a:t>optimal stimulation duration and transfer 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💊 Helps reduce resource waste by identifying </a:t>
            </a:r>
            <a:r>
              <a:rPr lang="en-US" b="1" dirty="0"/>
              <a:t>inefficient stimulation</a:t>
            </a:r>
          </a:p>
          <a:p>
            <a:r>
              <a:rPr lang="en-US" b="1" dirty="0"/>
              <a:t>      protocols.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🤝 Improves clinician–embryologist collaboration through shared metrics</a:t>
            </a:r>
            <a:endParaRPr lang="en-US" b="1" dirty="0"/>
          </a:p>
          <a:p>
            <a:r>
              <a:rPr lang="en-IN" dirty="0"/>
              <a:t>📅</a:t>
            </a:r>
            <a:r>
              <a:rPr lang="en-IN" b="1" u="sng" dirty="0"/>
              <a:t>Blast Quality Distribution: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🟢 Good-quality blastocysts account for </a:t>
            </a:r>
            <a:r>
              <a:rPr lang="en-US" b="1" dirty="0"/>
              <a:t>65.79%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🔴 Poor-quality blastocysts account for </a:t>
            </a:r>
            <a:r>
              <a:rPr lang="en-US" b="1" dirty="0"/>
              <a:t>34.21% 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🟢 </a:t>
            </a:r>
            <a:r>
              <a:rPr lang="en-US" b="1" dirty="0"/>
              <a:t>Day-5 (Blastocyst) </a:t>
            </a:r>
            <a:r>
              <a:rPr lang="en-US" dirty="0"/>
              <a:t>transfers show the highest number of good-quality embryos.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🟡 </a:t>
            </a:r>
            <a:r>
              <a:rPr lang="en-US" b="1" dirty="0"/>
              <a:t>Day-3 (Cleavage) </a:t>
            </a:r>
            <a:r>
              <a:rPr lang="en-US" dirty="0"/>
              <a:t>transfers produce fewer good-quality embryos compared to Day-5.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🎯 Data supports </a:t>
            </a:r>
            <a:r>
              <a:rPr lang="en-US" b="1" dirty="0"/>
              <a:t>Day-5 transfer as the preferred clinical strategy.</a:t>
            </a:r>
          </a:p>
          <a:p>
            <a:r>
              <a:rPr lang="en-IN" dirty="0"/>
              <a:t>🔬 </a:t>
            </a:r>
            <a:r>
              <a:rPr lang="en-IN" b="1" u="sng" dirty="0"/>
              <a:t>Overall Lab Performance: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⚖️ </a:t>
            </a:r>
            <a:r>
              <a:rPr lang="en-US" b="1" dirty="0"/>
              <a:t>Average BMI is 24.58</a:t>
            </a:r>
            <a:r>
              <a:rPr lang="en-US" dirty="0"/>
              <a:t>, which falls within the normal–borderline range</a:t>
            </a:r>
            <a:endParaRPr lang="en-IN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🧬 </a:t>
            </a:r>
            <a:r>
              <a:rPr lang="en-US" b="1" dirty="0"/>
              <a:t>~3,000 total oocytes</a:t>
            </a:r>
            <a:r>
              <a:rPr lang="en-US" dirty="0"/>
              <a:t> processed across all IVF cycles.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⚗️ </a:t>
            </a:r>
            <a:r>
              <a:rPr lang="en-US" b="1" dirty="0"/>
              <a:t>M2 (mature oocyte) rate is 0.79</a:t>
            </a:r>
            <a:r>
              <a:rPr lang="en-US" dirty="0"/>
              <a:t>, indicating strong lab maturity outcomes.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🎯</a:t>
            </a:r>
            <a:r>
              <a:rPr lang="en-US" dirty="0"/>
              <a:t>Optimal stimulation duration and Day-5 transfer significantly improve blastocyst quality and lab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u="sng" dirty="0"/>
          </a:p>
        </p:txBody>
      </p:sp>
      <p:pic>
        <p:nvPicPr>
          <p:cNvPr id="9" name="Google Shape;90;p6" descr="360DigiTMG Reviews - 52 Reviews of 360digitmg.com | Sitejabber">
            <a:extLst>
              <a:ext uri="{FF2B5EF4-FFF2-40B4-BE49-F238E27FC236}">
                <a16:creationId xmlns:a16="http://schemas.microsoft.com/office/drawing/2014/main" id="{A5C23BA1-1A82-AF38-424D-1BE9065D9F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53110" y="5945834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3501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4" name="Google Shape;144;p60"/>
          <p:cNvCxnSpPr/>
          <p:nvPr/>
        </p:nvCxnSpPr>
        <p:spPr>
          <a:xfrm>
            <a:off x="0" y="6464596"/>
            <a:ext cx="9597656" cy="0"/>
          </a:xfrm>
          <a:prstGeom prst="straightConnector1">
            <a:avLst/>
          </a:prstGeom>
          <a:noFill/>
          <a:ln w="9525" cap="flat" cmpd="sng">
            <a:solidFill>
              <a:srgbClr val="3B7FF2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45" name="Google Shape;145;p60" descr="Attitudes 2 Animal Cognition Survey – The Anthrozoologis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0415" y="272435"/>
            <a:ext cx="5971172" cy="59711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60" descr="360DigiTMG Reviews - 52 Reviews of 360digitmg.com | Sitejabb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23552" y="5952931"/>
            <a:ext cx="2277039" cy="808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732</TotalTime>
  <Words>1458</Words>
  <Application>Microsoft Office PowerPoint</Application>
  <PresentationFormat>Widescreen</PresentationFormat>
  <Paragraphs>197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Georgia</vt:lpstr>
      <vt:lpstr>Gill Sans MT</vt:lpstr>
      <vt:lpstr>Times New Roman</vt:lpstr>
      <vt:lpstr>Parcel</vt:lpstr>
      <vt:lpstr>Garbha Analytics:  Data-Driven IVF Outcome Monitoring</vt:lpstr>
      <vt:lpstr>Contents</vt:lpstr>
      <vt:lpstr>Business Problem</vt:lpstr>
      <vt:lpstr>Business Problems</vt:lpstr>
      <vt:lpstr>Business Objective</vt:lpstr>
      <vt:lpstr>Business Problem: </vt:lpstr>
      <vt:lpstr>Project Overview and Scope</vt:lpstr>
      <vt:lpstr>Data Dictionary </vt:lpstr>
      <vt:lpstr>Exploratory Data Analysis [EDA]</vt:lpstr>
      <vt:lpstr>Data Preprocessing</vt:lpstr>
      <vt:lpstr>Data Visualization </vt:lpstr>
      <vt:lpstr>Data Visualization </vt:lpstr>
      <vt:lpstr>Data Visualization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VIKAS BARTHWAL</dc:creator>
  <cp:lastModifiedBy>Subhashree Dash</cp:lastModifiedBy>
  <cp:revision>22</cp:revision>
  <dcterms:created xsi:type="dcterms:W3CDTF">2022-02-16T01:47:29Z</dcterms:created>
  <dcterms:modified xsi:type="dcterms:W3CDTF">2026-02-03T17:20:35Z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49deba9595b64033890e84905b5c3bc0</vt:lpwstr>
  </property>
</Properties>
</file>